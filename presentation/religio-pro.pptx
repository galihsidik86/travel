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40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16459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manajemen </a:t>
            </a:r>
            <a:pPr indent="0" marL="0">
              <a:buNone/>
            </a:pPr>
            <a:r>
              <a:rPr lang="en-US" sz="60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umroh &amp; haji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DE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· Web + PWA · Multi-role · Production-ready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spc="1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</a:t>
            </a:r>
            <a:pPr indent="0" marL="0">
              <a:lnSpc>
                <a:spcPts val="2200"/>
              </a:lnSpc>
              <a:buNone/>
            </a:pPr>
            <a:r>
              <a:rPr lang="en-US" sz="12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20 · Express · Prisma · MySQL</a:t>
            </a:r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spc="1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EJS · PWA Service Worker · IndexedDB · Web Push</a:t>
            </a:r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spc="1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Integrasi 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Midtrans Snap · Fonnte WA · SMTP · sharp · web-push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Engineering · Overview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INTRODUKSI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 itu Religio Pro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terintegrasi yang mendigitalkan setiap titik kontak dalam bisnis travel umroh &amp; haji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109441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sistem untuk owner, manajer ops, kasir, agen, muthawwif (crew), dan jemaah — 8 role RBAC.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Booking → Payment → Komisi → Payout dijalankan otomatis di satu pipeline.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+ Progressive Web App: bisa di-install seperti aplikasi native di HP jemaah &amp; crew.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Indonesia di seluruh UI (lang="id"). Tema "premium VVIP" — onyx + gold + cream.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Production-ready: rate limit, CSRF, audit log permanen, retention policy, backup nightly.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TEKNOLOGI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&amp; Dependensi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Pilihan teknologi yang battle-tested + ekosistem npm yang sehat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606040" cy="384048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≥ 20.6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6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MariaDB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(validation)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(HS256)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606040" cy="384048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78892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templating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custom-props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API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(thumbnails)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06040" cy="384048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78892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Midtrans Snap (gateway)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Fonnte WA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SMTP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web-push (VAPID)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(rate limit)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(images)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(decks)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2194560"/>
            <a:ext cx="2606040" cy="384048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2788920"/>
            <a:ext cx="2240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/ systemd timers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mysqldump backup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JobRun freshness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logrotate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~370 tests (node:test)</a:t>
            </a:r>
            <a:endParaRPr lang="en-US" sz="1100" dirty="0"/>
          </a:p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manifest + SW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ARSITEKTUR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portal · 1 backend · 1 database · cron jobs untuk maintenance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PRESENTASI · 4 portal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5176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4A6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/p/:slug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5176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4A8F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JEMAAH (PWA)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/saya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265176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2286000"/>
            <a:ext cx="265176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C99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 (PWA)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/crew + ADMIN /admin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· Express + Prisma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65760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1C1A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(business logic)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4023360"/>
            <a:ext cx="365760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1C1A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4023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Notifikasi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· WA · Push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4023360"/>
            <a:ext cx="342900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1C1A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402336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(append-only)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2120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· MySQL · Maintenance Jobs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502920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B556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486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· Prisma migrations · indexes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15000" y="5486400"/>
            <a:ext cx="5852160" cy="1097280"/>
          </a:xfrm>
          <a:prstGeom prst="rect">
            <a:avLst/>
          </a:prstGeom>
          <a:solidFill>
            <a:srgbClr val="11100E"/>
          </a:solidFill>
          <a:ln w="19050">
            <a:solidFill>
              <a:srgbClr val="B556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548640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Cron: expire-docs · expire-intents · send-notifs · prune · backup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KEAMANAN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RBAC 8 role · separation of duties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role punya scope yang ketat — uang masuk (kasir) ≠ uang keluar (manajer ops)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5486400" cy="50292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4028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penuh + financial reports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00" cy="50292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SUPERADMIN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penuh kecuali edit OWNER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86400" cy="502920"/>
          </a:xfrm>
          <a:prstGeom prst="rect">
            <a:avLst/>
          </a:prstGeom>
          <a:solidFill>
            <a:srgbClr val="11100E"/>
          </a:solidFill>
          <a:ln w="12700">
            <a:solidFill>
              <a:srgbClr val="4A8F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8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MANAJER_OPS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0280" y="3474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· refund · transfer · payout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86400" cy="502920"/>
          </a:xfrm>
          <a:prstGeom prst="rect">
            <a:avLst/>
          </a:prstGeom>
          <a:solidFill>
            <a:srgbClr val="11100E"/>
          </a:solidFill>
          <a:ln w="12700">
            <a:solidFill>
              <a:srgbClr val="4A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6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40280" y="4114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 + walk-in booking (TIDAK refund / payout)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194560"/>
            <a:ext cx="5486400" cy="502920"/>
          </a:xfrm>
          <a:prstGeom prst="rect">
            <a:avLst/>
          </a:prstGeom>
          <a:solidFill>
            <a:srgbClr val="11100E"/>
          </a:solidFill>
          <a:ln w="12700">
            <a:solidFill>
              <a:srgbClr val="8E8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194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2194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— reporting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834640"/>
            <a:ext cx="5486400" cy="502920"/>
          </a:xfrm>
          <a:prstGeom prst="rect">
            <a:avLst/>
          </a:prstGeom>
          <a:solidFill>
            <a:srgbClr val="11100E"/>
          </a:solidFill>
          <a:ln w="12700">
            <a:solidFill>
              <a:srgbClr val="C99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8346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3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0956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CRM · Marketing kit · Komisi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474720"/>
            <a:ext cx="5486400" cy="502920"/>
          </a:xfrm>
          <a:prstGeom prst="rect">
            <a:avLst/>
          </a:prstGeom>
          <a:solidFill>
            <a:srgbClr val="11100E"/>
          </a:solidFill>
          <a:ln w="12700">
            <a:solidFill>
              <a:srgbClr val="B556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474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MUTHAWWIF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3474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manifest + attendance + SOS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5486400" cy="502920"/>
          </a:xfrm>
          <a:prstGeom prst="rect">
            <a:avLst/>
          </a:prstGeom>
          <a:solidFill>
            <a:srgbClr val="11100E"/>
          </a:solidFill>
          <a:ln w="12700">
            <a:solidFill>
              <a:srgbClr val="F4E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JEMAAH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09560" y="4114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Self-service: profil · dokumen · bayar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FITUR · PUBLIC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/p/:slug — agent attribution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Halaman jualan paket dengan deep-link agen lock-in untuk attribution audit-able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852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pattern /p/&lt;paketSlug&gt;?a=&lt;agentSlug&gt; — auto-link booking ke agen.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agentSlugCap di-snapshot saat booking — tetap survive walaupun slug agen di-rename.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pre-fill nama + telepon untuk jemaah yang sudah login.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 8/min/IP untuk public booking endpoint.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BookingNo scheme RP-YYYY-NNNNN dengan retry-on-collision (5x).</a:t>
            </a:r>
            <a:endParaRPr lang="en-US" sz="1600" dirty="0"/>
          </a:p>
        </p:txBody>
      </p:sp>
      <p:pic>
        <p:nvPicPr>
          <p:cNvPr id="7" name="Image 0" descr="C:\Users\Galih Sidik\travel\presentation\screenshots\01-public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49377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5715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screens/paket-detail.html — public sales page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FITUR · JEMAAH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/saya — PWA installable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Self-service jemaah: lihat booking, bayar online, upload dokumen, kirim profil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di Android Chrome + iOS Safari (Share → Add to Home Screen + onboarding hint).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Bottom-nav 4-tab: Beranda · Paket · Notifikasi · Profil.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online via Midtrans Snap (VA · QRIS · Card · E-wallet).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paspor / visa / vaccine cert dengan auto-thumbnail (sharp 256px).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inbox dengan unread badge (5rr).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booking printable A4 (stage 20).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Soft-merge: claim booking lama otomatis konsolidasi profil.</a:t>
            </a:r>
            <a:endParaRPr lang="en-US" sz="1600" dirty="0"/>
          </a:p>
        </p:txBody>
      </p:sp>
      <p:pic>
        <p:nvPicPr>
          <p:cNvPr id="7" name="Image 0" descr="C:\Users\Galih Sidik\travel\presentation\screenshots\02-jemaah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49377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5715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/saya — jemaah dashboard (PWA-installable)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FITUR · AGEN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/agen — CRM untuk agen reseller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Leads kanban · Marketing kit · Wallet · Analitik · 4 tab terintegrasi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kanban 4-kolom: Cold · Warm · Hot · LUNAS (campuran Lead + Booking).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kit: link auto-generated /p/&lt;slug&gt;?a=&lt;agentSlug&gt; + copy-to-clipboard.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komisi: pending · earned · paid · cancelled + 20 payout terakhir.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Analitik: funnel SVG 5-stage · sumber lead · sparkline 30-hari · per-paket leaderboard · komisi 6 bulan bar chart.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Komisi rate dengan 4-tier precedence: AgentPaketKomisi → komisiRateOverride → Paket.komisiRate → DEFAULT.</a:t>
            </a:r>
            <a:endParaRPr lang="en-US" sz="1600" dirty="0"/>
          </a:p>
        </p:txBody>
      </p:sp>
      <p:pic>
        <p:nvPicPr>
          <p:cNvPr id="7" name="Image 0" descr="C:\Users\Galih Sidik\travel\presentation\screenshots\03-agen-c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49377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5715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 — Leads pipeline kanban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FITUR · CREW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/crew — muthawwif workspace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Read-only manifest · attendance offline-friendly · SOS dengan 3-channel fan-out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paket yang di-assign, manifest jemaah tanpa kolom uang (separation of duty).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untuk offline reference (5ss) — UTF-8 BOM, RFC 4180.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per-day grid dengan IndexedDB queue (5xx) — replay form submit saat online lagi.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button floating (ruby pulse) di setiap halaman /crew — modal 5 jenis incident.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fan-out 3 channel: EMAIL (queued) · WA (queued) · Web Push (real-time browser).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akses ke money — KASIR &amp; MANAJER_OPS yang handle.</a:t>
            </a:r>
            <a:endParaRPr lang="en-US" sz="1600" dirty="0"/>
          </a:p>
        </p:txBody>
      </p:sp>
      <p:pic>
        <p:nvPicPr>
          <p:cNvPr id="7" name="Image 0" descr="C:\Users\Galih Sidik\travel\presentation\screenshots\04-crew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49377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5715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/crew — paket list + SOS button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FITUR ·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/admin — HQ control center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tab + 10+ sub-page · semua data agen + jemaah + finance dalam satu pane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Overview: KPI · funnel · top paket · revenue trend per paket · komisi 6-bulan bar chart.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Paket / Manifest / Bunking / Finance.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Sub-page: Users · Jemaah · Bookings (global search) · Audit · Notifikasi · Payment Intents · Incidents · Payouts · Calendar · Checklist.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Per-paket profitability (stage 22): revenue − cost − komisi liability = net margin %.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Print-friendly outputs: manifest (A4 landscape) · voucher per-jemaah · slip payout · pre-departure checklist.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 bulanan (stage 24) untuk planning + drill per tanggal.</a:t>
            </a:r>
            <a:endParaRPr lang="en-US" sz="1600" dirty="0"/>
          </a:p>
        </p:txBody>
      </p:sp>
      <p:pic>
        <p:nvPicPr>
          <p:cNvPr id="7" name="Image 0" descr="C:\Users\Galih Sidik\travel\presentation\screenshots\05-admin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49377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5715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 — overview tab dengan KPI + charts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MONEY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→ Komisi → Payout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Append-only Payment ledger + state machine forward-only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109441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recordPayment() = single source of truth — admin-recorded + gateway webhook lewat fungsi yang sama.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forward-only: PENDING → BOOKED → DP_PAID → PARTIAL → LUNAS (CANCELLED/REFUNDED terminal).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Auto-Komisi pada LUNAS transition — idempotent, rate locked-in di Komisi.amount snapshot.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= negative-amount Payment row, append-only (tidak edit original).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bundles all EARNED komisi for one agent, transactional, payoutNo = PO-YYYY-NNNNN.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Midtrans Snap webhook delegate ke recordPayment — single math path, idempotent on retry.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MOBILE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 · offline · push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Installable di HP, attendance queue di IndexedDB, SOS push real-time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shell: manifest.webmanifest · service worker · install prompt + iOS hint.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strategy: static cache-first, HTML network-first, offline.html fallback.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attendance: IndexedDB queue replay on online event + 20s tick (server upsert sudah idempotent).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Push: VAPID + browser subscription — 3rd channel di samping email + WA.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SOS: requireInteraction=true → toast nempel sampai admin klik.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bottom-nav untuk jemaah, responsive @media baseline, tap-target ≥ 44px.</a:t>
            </a:r>
            <a:endParaRPr lang="en-US" sz="1600" dirty="0"/>
          </a:p>
        </p:txBody>
      </p:sp>
      <p:pic>
        <p:nvPicPr>
          <p:cNvPr id="7" name="Image 0" descr="C:\Users\Galih Sidik\travel\presentation\screenshots\06-mobile-p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49377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5715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/saya di mobile dengan bottom-nav + PWA install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PRINT OUTPUTS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 trifecta — paperwork lengkap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 + Voucher + Slip = full accounting + ops trail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520440" cy="384048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landscape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check-in worksheet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Room-first sort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Paspor + emergency contact</a:t>
            </a:r>
            <a:endParaRPr lang="en-US" sz="1300" dirty="0"/>
          </a:p>
        </p:txBody>
      </p:sp>
      <p:pic>
        <p:nvPicPr>
          <p:cNvPr id="9" name="Image 0" descr="C:\Users\Galih Sidik\travel\presentation\screenshots\07-print-manif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114800"/>
            <a:ext cx="2971800" cy="1737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34840" y="2194560"/>
            <a:ext cx="3520440" cy="384048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7720" y="23317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VOUCHER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6974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portrait per-jemaah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paket + payment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condensed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for manasik handout</a:t>
            </a:r>
            <a:endParaRPr lang="en-US" sz="1300" dirty="0"/>
          </a:p>
        </p:txBody>
      </p:sp>
      <p:pic>
        <p:nvPicPr>
          <p:cNvPr id="13" name="Image 1" descr="C:\Users\Galih Sidik\travel\presentation\screenshots\08-print-vou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4114800"/>
            <a:ext cx="2971800" cy="1737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21040" y="2194560"/>
            <a:ext cx="3520440" cy="384048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0" y="23317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SLIP PAYOUT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503920" y="26974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portrait per-payout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 identity + komisi table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signature boxes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accounting record</a:t>
            </a:r>
            <a:endParaRPr lang="en-US" sz="1300" dirty="0"/>
          </a:p>
        </p:txBody>
      </p:sp>
      <p:pic>
        <p:nvPicPr>
          <p:cNvPr id="17" name="Image 2" descr="C:\Users\Galih Sidik\travel\presentation\screenshots\09-print-sl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114800"/>
            <a:ext cx="2971800" cy="1737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 tooling — siapa untung, paket mana yang konversi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Funnel · leaderboard · monthly trend · net margin · checklist · calendar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8521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Per-paket leaderboard dengan revenue + cost + komisi liability + NET MARGIN%.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color tier: ≥20% emerald · ≥5% gold · ≥0% amber · negative ruby — losses tidak di-mask.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Komisi monthly bar chart 6-bulan: earned (amber) vs paid (emerald).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Pre-departure checklist 8-poin per jemaah (paspor 6-bulan rule + 4 verified docs + room + emergency).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bulanan untuk planning + drill per tanggal.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lead breakdown + funnel agen + sparkline 30-hari (semua agen / per agen).</a:t>
            </a:r>
            <a:endParaRPr lang="en-US" sz="1600" dirty="0"/>
          </a:p>
        </p:txBody>
      </p:sp>
      <p:pic>
        <p:nvPicPr>
          <p:cNvPr id="7" name="Image 0" descr="C:\Users\Galih Sidik\travel\presentation\screenshots\10-leader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194560"/>
            <a:ext cx="493776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5715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paket dengan net margin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NOTIFIKASI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Multi-channel queue · retry · opt-out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· WA · Web Push dengan template engine + retry backoff + audit trail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109441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model = durable queue + dispatch log. PENDING → SENT / FAILED / SKIPPED.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Senders: console (default) · Fonnte WA · SMTP (nodemailer) · web-push.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JSON-based dengan {{var}} placeholders — easy localise per type × channel.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exponential backoff (5nn): 1m · 5m · 30m · 2h · 12h sebelum terminal.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opt-out di JemaahProfile.notifEmail/notifWa + per-type di JemaahNotifPref.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worker (30s) + cron HTTP trigger — NOTIF_WORKER_DISABLED=true di production.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Jemaah inbox /saya/notifications dengan unread badge (5rr) auto-clear setelah view.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PRODUCTION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Sudah siap untuk go-live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· observability · backup · retention · launch readiness drill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109441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Boot-time env validation: production fail-fast kalau JWT_SECRET / COOKIE_SECURE / dll. tidak set.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 double-submit cookie + Redis-backed rate-limit (multi-instance safe).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permanen (append-only) untuk setiap state change. Read-only viewer untuk admin.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retention job (prune): bound Notification/JobRun/failed-intent growth. AuditLog + Payment NEVER pruned.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dengan per-job freshness — eksternal uptime monitor cukup alert pada single field.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mysqldump --single-transaction + 14-day rotation. Production deploy guide lengkap di deploy/.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 smoke runner (scripts/smoke-launch.js) — health + CSRF mint + sensitive-path block + bogus-creds.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· 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suite ~370 tests · node:test built-in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Zero-dependency test runner · serialized · DB fixture-based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606040" cy="164592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tests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362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606040" cy="164592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suites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06040" cy="164592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 scripts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2697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8915400" y="2194560"/>
            <a:ext cx="2606040" cy="164592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3317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98280" y="2697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+ route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1109441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node:test built-in (Node ≥ 18) — zero install, --test-concurrency=1 untuk DB isolation.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Tag-prefixed fixtures (makeTag) — tests share dev DB tapi isolated lewat tag prefix.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scripts berdampingan: pre-launch · payment gateway · offline attendance · web push.</a:t>
            </a:r>
            <a:endParaRPr lang="en-US" sz="1600" dirty="0"/>
          </a:p>
          <a:p>
            <a:pPr>
              <a:lnSpc>
                <a:spcPts val="2600"/>
              </a:lnSpc>
              <a:spcAft>
                <a:spcPts val="600"/>
              </a:spcAft>
            </a:pPr>
            <a:r>
              <a:rPr lang="en-US" sz="16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362/362 pass — green sebelum setiap commit.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· 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stages dijalankan secara terstruktur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Build-out staged — setiap stage didokumentasi di CLAUDE.md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01-02  Skeleton + Prisma + MySQL seed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   Auth + RBAC (8 role)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   Public landing + booking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   Agen portal CRM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   Admin dashboard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  Money flow + komisi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   Ops jobs (cron)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   Jemaah portal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Notifikasi (queue + retry)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Payment gateway (Midtrans)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  Crew portal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Mobile experience (PWA + offline)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  Per-paket × per-agen komisi matrix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  Document thumbnails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Analytics extension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Web Push SOS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Paket clone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  Print manifest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Per-jemaah voucher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Payout slip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  Per-paket profitability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   Pre-departure checklist</a:t>
            </a:r>
            <a:endParaRPr lang="en-US" sz="1100" dirty="0"/>
          </a:p>
          <a:p>
            <a:pPr>
              <a:lnSpc>
                <a:spcPts val="2000"/>
              </a:lnSpc>
            </a:pPr>
            <a:r>
              <a:rPr lang="en-US" sz="110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   Departure calendar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· KELEBIHAN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Mengapa Religio Pro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alasan kuat dibanding solusi spreadsheet, WhatsApp group, atau platform generic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8288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5486400" cy="91440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TERINTEGRASI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Booking → Payment → Komisi → Payout otomatis. Tidak ada double-entry, tidak ada lupa.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486400" cy="91440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BHS. INDONESIA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UI dalam Bahasa Indonesia. Owner, kasir, agen, jemaah semua nyaman tanpa training translasi.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486400" cy="91440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97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SEPARATION OF DUTIES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8-role RBAC mencegah kasir menulis-off refund, mencegah agen lihat data agen lain.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5486400" cy="91440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03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OFFLINE-FRIENDLY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577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IndexedDB. Attendance + SOS jalan di bus tanpa sinyal — sync saat online.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194560"/>
            <a:ext cx="5486400" cy="91440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286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5603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state change ditulis ke AuditLog (append-only). Investigasi cepat, compliance ready.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200400"/>
            <a:ext cx="5486400" cy="91440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91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PRINT-READY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566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· voucher · slip payout siap cetak A4 — tidak perlu Excel/Word manual.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206240"/>
            <a:ext cx="5486400" cy="91440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297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 BI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572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per paket, komisi trend, leaderboard cross-agen — owner tahu paket mana yang untung.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5212080"/>
            <a:ext cx="5486400" cy="914400"/>
          </a:xfrm>
          <a:prstGeom prst="rect">
            <a:avLst/>
          </a:prstGeom>
          <a:solidFill>
            <a:srgbClr val="11100E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53035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PRODUCTION-READY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5577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4E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· CSRF · backup · retention · health check · ~370 tests. Bukan prototype.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RELIGIO PRO ·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E8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4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6459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03120"/>
            <a:ext cx="110944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F4EE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Terima </a:t>
            </a:r>
            <a:pPr indent="0" marL="0">
              <a:buNone/>
            </a:pPr>
            <a:r>
              <a:rPr lang="en-US" sz="70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kasih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CC3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demo, ready to deploy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110944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US" sz="13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landing  ·  /p/ramadhan-aqsa-2026</a:t>
            </a:r>
            <a:endParaRPr lang="en-US" sz="1300" dirty="0"/>
          </a:p>
          <a:p>
            <a:pPr>
              <a:lnSpc>
                <a:spcPts val="2200"/>
              </a:lnSpc>
            </a:pPr>
            <a:r>
              <a:rPr lang="en-US" sz="13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Jemaah portal   ·  /saya</a:t>
            </a:r>
            <a:endParaRPr lang="en-US" sz="1300" dirty="0"/>
          </a:p>
          <a:p>
            <a:pPr>
              <a:lnSpc>
                <a:spcPts val="2200"/>
              </a:lnSpc>
            </a:pPr>
            <a:r>
              <a:rPr lang="en-US" sz="13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 CRM        ·  /agen</a:t>
            </a:r>
            <a:endParaRPr lang="en-US" sz="1300" dirty="0"/>
          </a:p>
          <a:p>
            <a:pPr>
              <a:lnSpc>
                <a:spcPts val="2200"/>
              </a:lnSpc>
            </a:pPr>
            <a:r>
              <a:rPr lang="en-US" sz="13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 workspace  ·  /crew</a:t>
            </a:r>
            <a:endParaRPr lang="en-US" sz="1300" dirty="0"/>
          </a:p>
          <a:p>
            <a:pPr>
              <a:lnSpc>
                <a:spcPts val="2200"/>
              </a:lnSpc>
            </a:pPr>
            <a:r>
              <a:rPr lang="en-US" sz="13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HQ        ·  /admin</a:t>
            </a:r>
            <a:endParaRPr lang="en-US" sz="1300" dirty="0"/>
          </a:p>
          <a:p>
            <a:pPr>
              <a:lnSpc>
                <a:spcPts val="2200"/>
              </a:lnSpc>
            </a:pPr>
            <a:r>
              <a:rPr lang="en-US" sz="1300" spc="100" kern="0" dirty="0">
                <a:solidFill>
                  <a:srgbClr val="F4EE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health      ·  /api/health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Religio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Religio Pro — Travel Umroh &amp; Haji Management</dc:title>
  <dc:subject>System overview deck</dc:subject>
  <dc:creator>Religio Pro</dc:creator>
  <cp:lastModifiedBy>Religio Pro</cp:lastModifiedBy>
  <cp:revision>1</cp:revision>
  <dcterms:created xsi:type="dcterms:W3CDTF">2026-06-06T07:40:34Z</dcterms:created>
  <dcterms:modified xsi:type="dcterms:W3CDTF">2026-06-06T07:40:34Z</dcterms:modified>
</cp:coreProperties>
</file>