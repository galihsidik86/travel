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4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403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48640"/>
            <a:ext cx="1645920" cy="36576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82296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800" kern="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RELIGIO PRO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11094415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dirty="0">
                <a:solidFill>
                  <a:srgbClr val="F4EE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Sistem manajemen </a:t>
            </a:r>
            <a:pPr indent="0" marL="0">
              <a:buNone/>
            </a:pPr>
            <a:r>
              <a:rPr lang="en-US" sz="6000" i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travel umroh &amp; haji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548640" y="36576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EDE6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End-to-end · Web + PWA · Multi-role · Production-ready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572000"/>
            <a:ext cx="1109441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spc="1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Backend </a:t>
            </a:r>
            <a:pPr indent="0" marL="0">
              <a:lnSpc>
                <a:spcPts val="2200"/>
              </a:lnSpc>
              <a:buNone/>
            </a:pPr>
            <a:r>
              <a:rPr lang="en-US" sz="1200" spc="100" kern="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Node.js 20 · Express · Prisma · MySQL</a:t>
            </a:r>
            <a:pPr indent="0" marL="0">
              <a:lnSpc>
                <a:spcPts val="2200"/>
              </a:lnSpc>
              <a:buNone/>
            </a:pP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spc="1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Frontend 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spc="100" kern="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EJS · PWA Service Worker · IndexedDB · Web Push</a:t>
            </a:r>
            <a:pPr indent="0" marL="0">
              <a:lnSpc>
                <a:spcPts val="2200"/>
              </a:lnSpc>
              <a:buNone/>
            </a:pP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spc="1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Integrasi 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spc="100" kern="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Midtrans Snap · Fonnte WA · SMTP · sharp · web-push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40080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Religio Pro Engineering · Overview Deck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04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· INTRODUKSI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4EE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Apa itu Religio Pro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Platform terintegrasi yang mendigitalkan setiap titik kontak dalam bisnis travel umroh &amp; haji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82880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194560"/>
            <a:ext cx="1109441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sistem untuk owner, manajer ops, kasir, agen, muthawwif (crew), dan jemaah — 8 role RBAC.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→ Booking → Payment → Komisi → Payout dijalankan otomatis di satu pipeline.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Web-based + Progressive Web App: bisa di-install seperti aplikasi native di HP jemaah &amp; crew.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Bahasa Indonesia di seluruh UI (lang="id"). Tema "premium VVIP" — onyx + gold + cream.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Production-ready: rate limit, CSRF, audit log permanen, retention policy, backup nightly.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RELIGIO PRO · OVERVIEW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20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504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· TEKNOLOGI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4EE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Stack &amp; Dependensi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Pilihan teknologi yang battle-tested + ekosistem npm yang sehat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82880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194560"/>
            <a:ext cx="2606040" cy="3840480"/>
          </a:xfrm>
          <a:prstGeom prst="rect">
            <a:avLst/>
          </a:prstGeom>
          <a:solidFill>
            <a:srgbClr val="11100E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33172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BACKEND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2788920"/>
            <a:ext cx="22402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1800"/>
              </a:lnSpc>
            </a:pPr>
            <a:r>
              <a:rPr lang="en-US" sz="11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≥ 20.6</a:t>
            </a:r>
            <a:endParaRPr lang="en-US" sz="1100" dirty="0"/>
          </a:p>
          <a:p>
            <a:pPr>
              <a:lnSpc>
                <a:spcPts val="1800"/>
              </a:lnSpc>
            </a:pPr>
            <a:r>
              <a:rPr lang="en-US" sz="11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4</a:t>
            </a:r>
            <a:endParaRPr lang="en-US" sz="1100" dirty="0"/>
          </a:p>
          <a:p>
            <a:pPr>
              <a:lnSpc>
                <a:spcPts val="1800"/>
              </a:lnSpc>
            </a:pPr>
            <a:r>
              <a:rPr lang="en-US" sz="11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6</a:t>
            </a:r>
            <a:endParaRPr lang="en-US" sz="1100" dirty="0"/>
          </a:p>
          <a:p>
            <a:pPr>
              <a:lnSpc>
                <a:spcPts val="1800"/>
              </a:lnSpc>
            </a:pPr>
            <a:r>
              <a:rPr lang="en-US" sz="11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/ MariaDB</a:t>
            </a:r>
            <a:endParaRPr lang="en-US" sz="1100" dirty="0"/>
          </a:p>
          <a:p>
            <a:pPr>
              <a:lnSpc>
                <a:spcPts val="1800"/>
              </a:lnSpc>
            </a:pPr>
            <a:r>
              <a:rPr lang="en-US" sz="11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Zod (validation)</a:t>
            </a:r>
            <a:endParaRPr lang="en-US" sz="1100" dirty="0"/>
          </a:p>
          <a:p>
            <a:pPr>
              <a:lnSpc>
                <a:spcPts val="1800"/>
              </a:lnSpc>
            </a:pPr>
            <a:r>
              <a:rPr lang="en-US" sz="11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(HS256)</a:t>
            </a:r>
            <a:endParaRPr lang="en-US" sz="1100" dirty="0"/>
          </a:p>
          <a:p>
            <a:pPr>
              <a:lnSpc>
                <a:spcPts val="1800"/>
              </a:lnSpc>
            </a:pPr>
            <a:r>
              <a:rPr lang="en-US" sz="11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37560" y="2194560"/>
            <a:ext cx="2606040" cy="3840480"/>
          </a:xfrm>
          <a:prstGeom prst="rect">
            <a:avLst/>
          </a:prstGeom>
          <a:solidFill>
            <a:srgbClr val="11100E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20440" y="233172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FRONTEND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520440" y="2788920"/>
            <a:ext cx="22402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1800"/>
              </a:lnSpc>
            </a:pPr>
            <a:r>
              <a:rPr lang="en-US" sz="11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EJS templating</a:t>
            </a:r>
            <a:endParaRPr lang="en-US" sz="1100" dirty="0"/>
          </a:p>
          <a:p>
            <a:pPr>
              <a:lnSpc>
                <a:spcPts val="1800"/>
              </a:lnSpc>
            </a:pPr>
            <a:r>
              <a:rPr lang="en-US" sz="11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custom-props</a:t>
            </a:r>
            <a:endParaRPr lang="en-US" sz="1100" dirty="0"/>
          </a:p>
          <a:p>
            <a:pPr>
              <a:lnSpc>
                <a:spcPts val="1800"/>
              </a:lnSpc>
            </a:pPr>
            <a:r>
              <a:rPr lang="en-US" sz="11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Worker</a:t>
            </a:r>
            <a:endParaRPr lang="en-US" sz="1100" dirty="0"/>
          </a:p>
          <a:p>
            <a:pPr>
              <a:lnSpc>
                <a:spcPts val="1800"/>
              </a:lnSpc>
            </a:pPr>
            <a:r>
              <a:rPr lang="en-US" sz="11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IndexedDB</a:t>
            </a:r>
            <a:endParaRPr lang="en-US" sz="1100" dirty="0"/>
          </a:p>
          <a:p>
            <a:pPr>
              <a:lnSpc>
                <a:spcPts val="1800"/>
              </a:lnSpc>
            </a:pPr>
            <a:r>
              <a:rPr lang="en-US" sz="11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Push API</a:t>
            </a:r>
            <a:endParaRPr lang="en-US" sz="1100" dirty="0"/>
          </a:p>
          <a:p>
            <a:pPr>
              <a:lnSpc>
                <a:spcPts val="1800"/>
              </a:lnSpc>
            </a:pPr>
            <a:r>
              <a:rPr lang="en-US" sz="11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API</a:t>
            </a:r>
            <a:endParaRPr lang="en-US" sz="1100" dirty="0"/>
          </a:p>
          <a:p>
            <a:pPr>
              <a:lnSpc>
                <a:spcPts val="1800"/>
              </a:lnSpc>
            </a:pPr>
            <a:r>
              <a:rPr lang="en-US" sz="11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 (thumbnails)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2194560"/>
            <a:ext cx="2606040" cy="3840480"/>
          </a:xfrm>
          <a:prstGeom prst="rect">
            <a:avLst/>
          </a:prstGeom>
          <a:solidFill>
            <a:srgbClr val="11100E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233172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INTEGRASI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09360" y="2788920"/>
            <a:ext cx="22402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1800"/>
              </a:lnSpc>
            </a:pPr>
            <a:r>
              <a:rPr lang="en-US" sz="11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Midtrans Snap (gateway)</a:t>
            </a:r>
            <a:endParaRPr lang="en-US" sz="1100" dirty="0"/>
          </a:p>
          <a:p>
            <a:pPr>
              <a:lnSpc>
                <a:spcPts val="1800"/>
              </a:lnSpc>
            </a:pPr>
            <a:r>
              <a:rPr lang="en-US" sz="11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Fonnte WA</a:t>
            </a:r>
            <a:endParaRPr lang="en-US" sz="1100" dirty="0"/>
          </a:p>
          <a:p>
            <a:pPr>
              <a:lnSpc>
                <a:spcPts val="1800"/>
              </a:lnSpc>
            </a:pPr>
            <a:r>
              <a:rPr lang="en-US" sz="11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Nodemailer SMTP</a:t>
            </a:r>
            <a:endParaRPr lang="en-US" sz="1100" dirty="0"/>
          </a:p>
          <a:p>
            <a:pPr>
              <a:lnSpc>
                <a:spcPts val="1800"/>
              </a:lnSpc>
            </a:pPr>
            <a:r>
              <a:rPr lang="en-US" sz="11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web-push (VAPID)</a:t>
            </a:r>
            <a:endParaRPr lang="en-US" sz="1100" dirty="0"/>
          </a:p>
          <a:p>
            <a:pPr>
              <a:lnSpc>
                <a:spcPts val="1800"/>
              </a:lnSpc>
            </a:pPr>
            <a:r>
              <a:rPr lang="en-US" sz="11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(rate limit)</a:t>
            </a:r>
            <a:endParaRPr lang="en-US" sz="1100" dirty="0"/>
          </a:p>
          <a:p>
            <a:pPr>
              <a:lnSpc>
                <a:spcPts val="1800"/>
              </a:lnSpc>
            </a:pPr>
            <a:r>
              <a:rPr lang="en-US" sz="11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 (images)</a:t>
            </a:r>
            <a:endParaRPr lang="en-US" sz="1100" dirty="0"/>
          </a:p>
          <a:p>
            <a:pPr>
              <a:lnSpc>
                <a:spcPts val="1800"/>
              </a:lnSpc>
            </a:pPr>
            <a:r>
              <a:rPr lang="en-US" sz="11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pptxgenjs (decks)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915400" y="2194560"/>
            <a:ext cx="2606040" cy="3840480"/>
          </a:xfrm>
          <a:prstGeom prst="rect">
            <a:avLst/>
          </a:prstGeom>
          <a:solidFill>
            <a:srgbClr val="11100E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98280" y="233172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098280" y="2788920"/>
            <a:ext cx="22402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1800"/>
              </a:lnSpc>
            </a:pPr>
            <a:r>
              <a:rPr lang="en-US" sz="11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 / systemd timers</a:t>
            </a:r>
            <a:endParaRPr lang="en-US" sz="1100" dirty="0"/>
          </a:p>
          <a:p>
            <a:pPr>
              <a:lnSpc>
                <a:spcPts val="1800"/>
              </a:lnSpc>
            </a:pPr>
            <a:r>
              <a:rPr lang="en-US" sz="11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mysqldump backup</a:t>
            </a:r>
            <a:endParaRPr lang="en-US" sz="1100" dirty="0"/>
          </a:p>
          <a:p>
            <a:pPr>
              <a:lnSpc>
                <a:spcPts val="1800"/>
              </a:lnSpc>
            </a:pPr>
            <a:r>
              <a:rPr lang="en-US" sz="11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JobRun freshness</a:t>
            </a:r>
            <a:endParaRPr lang="en-US" sz="1100" dirty="0"/>
          </a:p>
          <a:p>
            <a:pPr>
              <a:lnSpc>
                <a:spcPts val="1800"/>
              </a:lnSpc>
            </a:pPr>
            <a:r>
              <a:rPr lang="en-US" sz="11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logrotate</a:t>
            </a:r>
            <a:endParaRPr lang="en-US" sz="1100" dirty="0"/>
          </a:p>
          <a:p>
            <a:pPr>
              <a:lnSpc>
                <a:spcPts val="1800"/>
              </a:lnSpc>
            </a:pPr>
            <a:r>
              <a:rPr lang="en-US" sz="11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/api/health</a:t>
            </a:r>
            <a:endParaRPr lang="en-US" sz="1100" dirty="0"/>
          </a:p>
          <a:p>
            <a:pPr>
              <a:lnSpc>
                <a:spcPts val="1800"/>
              </a:lnSpc>
            </a:pPr>
            <a:r>
              <a:rPr lang="en-US" sz="11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~370 tests (node:test)</a:t>
            </a:r>
            <a:endParaRPr lang="en-US" sz="1100" dirty="0"/>
          </a:p>
          <a:p>
            <a:pPr>
              <a:lnSpc>
                <a:spcPts val="1800"/>
              </a:lnSpc>
            </a:pPr>
            <a:r>
              <a:rPr lang="en-US" sz="11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manifest + SW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RELIGIO PRO · OVERVIEW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/ 20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504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· ARSITEKTUR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4EE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overview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portal · 1 backend · 1 database · cron jobs untuk maintenance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82880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011680"/>
            <a:ext cx="1109441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LAYER PRESENTASI · 4 portal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2651760" cy="1097280"/>
          </a:xfrm>
          <a:prstGeom prst="rect">
            <a:avLst/>
          </a:prstGeom>
          <a:solidFill>
            <a:srgbClr val="11100E"/>
          </a:solidFill>
          <a:ln w="19050">
            <a:solidFill>
              <a:srgbClr val="4A6F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28600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spc="100" kern="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/p/:slug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37560" y="2286000"/>
            <a:ext cx="2651760" cy="1097280"/>
          </a:xfrm>
          <a:prstGeom prst="rect">
            <a:avLst/>
          </a:prstGeom>
          <a:solidFill>
            <a:srgbClr val="11100E"/>
          </a:solidFill>
          <a:ln w="19050">
            <a:solidFill>
              <a:srgbClr val="4A8F6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228600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JEMAAH (PWA)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spc="100" kern="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/saya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26480" y="2286000"/>
            <a:ext cx="2651760" cy="1097280"/>
          </a:xfrm>
          <a:prstGeom prst="rect">
            <a:avLst/>
          </a:prstGeom>
          <a:solidFill>
            <a:srgbClr val="11100E"/>
          </a:solidFill>
          <a:ln w="1905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0" y="228600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spc="100" kern="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/agen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915400" y="2286000"/>
            <a:ext cx="2651760" cy="1097280"/>
          </a:xfrm>
          <a:prstGeom prst="rect">
            <a:avLst/>
          </a:prstGeom>
          <a:solidFill>
            <a:srgbClr val="11100E"/>
          </a:solidFill>
          <a:ln w="19050">
            <a:solidFill>
              <a:srgbClr val="C993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15400" y="228600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CREW (PWA)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spc="100" kern="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/crew + ADMIN /admin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3749040"/>
            <a:ext cx="1109441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BACKEND · Express + Prisma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3657600" cy="1097280"/>
          </a:xfrm>
          <a:prstGeom prst="rect">
            <a:avLst/>
          </a:prstGeom>
          <a:solidFill>
            <a:srgbClr val="11100E"/>
          </a:solidFill>
          <a:ln w="19050">
            <a:solidFill>
              <a:srgbClr val="1C1A1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402336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spc="100" kern="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(business logic)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43400" y="4023360"/>
            <a:ext cx="3657600" cy="1097280"/>
          </a:xfrm>
          <a:prstGeom prst="rect">
            <a:avLst/>
          </a:prstGeom>
          <a:solidFill>
            <a:srgbClr val="11100E"/>
          </a:solidFill>
          <a:ln w="19050">
            <a:solidFill>
              <a:srgbClr val="1C1A1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43400" y="402336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Notifikasi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spc="100" kern="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 · WA · Push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138160" y="4023360"/>
            <a:ext cx="3429000" cy="1097280"/>
          </a:xfrm>
          <a:prstGeom prst="rect">
            <a:avLst/>
          </a:prstGeom>
          <a:solidFill>
            <a:srgbClr val="11100E"/>
          </a:solidFill>
          <a:ln w="19050">
            <a:solidFill>
              <a:srgbClr val="1C1A1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38160" y="4023360"/>
            <a:ext cx="3429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 Log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spc="100" kern="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(append-only)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1109441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· MySQL · Maintenance Jobs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48640" y="5486400"/>
            <a:ext cx="5029200" cy="1097280"/>
          </a:xfrm>
          <a:prstGeom prst="rect">
            <a:avLst/>
          </a:prstGeom>
          <a:solidFill>
            <a:srgbClr val="11100E"/>
          </a:solidFill>
          <a:ln w="19050">
            <a:solidFill>
              <a:srgbClr val="B556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548640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MySQL · Prisma migrations · indexes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715000" y="5486400"/>
            <a:ext cx="5852160" cy="1097280"/>
          </a:xfrm>
          <a:prstGeom prst="rect">
            <a:avLst/>
          </a:prstGeom>
          <a:solidFill>
            <a:srgbClr val="11100E"/>
          </a:solidFill>
          <a:ln w="19050">
            <a:solidFill>
              <a:srgbClr val="B556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15000" y="5486400"/>
            <a:ext cx="5852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Cron: expire-docs · expire-intents · send-notifs · prune · backup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RELIGIO PRO · OVERVIEW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 20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504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· KEAMANAN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4EE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RBAC 8 role · separation of duties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Setiap role punya scope yang ketat — uang masuk (kasir) ≠ uang keluar (manajer ops)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82880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194560"/>
            <a:ext cx="5486400" cy="502920"/>
          </a:xfrm>
          <a:prstGeom prst="rect">
            <a:avLst/>
          </a:prstGeom>
          <a:solidFill>
            <a:srgbClr val="11100E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219456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OWNER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240280" y="219456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Akses penuh + financial reports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834640"/>
            <a:ext cx="5486400" cy="502920"/>
          </a:xfrm>
          <a:prstGeom prst="rect">
            <a:avLst/>
          </a:prstGeom>
          <a:solidFill>
            <a:srgbClr val="11100E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83464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SUPERADMIN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240280" y="283464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Akses penuh kecuali edit OWNER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474720"/>
            <a:ext cx="5486400" cy="502920"/>
          </a:xfrm>
          <a:prstGeom prst="rect">
            <a:avLst/>
          </a:prstGeom>
          <a:solidFill>
            <a:srgbClr val="11100E"/>
          </a:solidFill>
          <a:ln w="12700">
            <a:solidFill>
              <a:srgbClr val="4A8F6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47472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A8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MANAJER_OPS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40280" y="34747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· refund · transfer · payout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114800"/>
            <a:ext cx="5486400" cy="502920"/>
          </a:xfrm>
          <a:prstGeom prst="rect">
            <a:avLst/>
          </a:prstGeom>
          <a:solidFill>
            <a:srgbClr val="11100E"/>
          </a:solidFill>
          <a:ln w="12700">
            <a:solidFill>
              <a:srgbClr val="4A6F8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411480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A6F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KASIR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240280" y="411480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payment + walk-in booking (TIDAK refund / payout)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2194560"/>
            <a:ext cx="5486400" cy="502920"/>
          </a:xfrm>
          <a:prstGeom prst="rect">
            <a:avLst/>
          </a:prstGeom>
          <a:solidFill>
            <a:srgbClr val="11100E"/>
          </a:solidFill>
          <a:ln w="12700">
            <a:solidFill>
              <a:srgbClr val="8E867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219456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909560" y="219456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— reporting only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17920" y="2834640"/>
            <a:ext cx="5486400" cy="502920"/>
          </a:xfrm>
          <a:prstGeom prst="rect">
            <a:avLst/>
          </a:prstGeom>
          <a:solidFill>
            <a:srgbClr val="11100E"/>
          </a:solidFill>
          <a:ln w="12700">
            <a:solidFill>
              <a:srgbClr val="C993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55080" y="283464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3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909560" y="283464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CRM · Marketing kit · Komisi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17920" y="3474720"/>
            <a:ext cx="5486400" cy="502920"/>
          </a:xfrm>
          <a:prstGeom prst="rect">
            <a:avLst/>
          </a:prstGeom>
          <a:solidFill>
            <a:srgbClr val="11100E"/>
          </a:solidFill>
          <a:ln w="12700">
            <a:solidFill>
              <a:srgbClr val="B556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55080" y="347472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556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MUTHAWWIF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909560" y="34747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manifest + attendance + SOS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217920" y="4114800"/>
            <a:ext cx="5486400" cy="502920"/>
          </a:xfrm>
          <a:prstGeom prst="rect">
            <a:avLst/>
          </a:prstGeom>
          <a:solidFill>
            <a:srgbClr val="11100E"/>
          </a:solidFill>
          <a:ln w="12700">
            <a:solidFill>
              <a:srgbClr val="F4EED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55080" y="411480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JEMAAH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909560" y="411480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Self-service: profil · dokumen · bayar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RELIGIO PRO · OVERVIEW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20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504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· FITUR · PUBLIC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4EE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Landing /p/:slug — agent attribution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Halaman jualan paket dengan deep-link agen lock-in untuk attribution audit-able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82880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194560"/>
            <a:ext cx="58521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pattern /p/&lt;paketSlug&gt;?a=&lt;agentSlug&gt; — auto-link booking ke agen.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agentSlugCap di-snapshot saat booking — tetap survive walaupun slug agen di-rename.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pre-fill nama + telepon untuk jemaah yang sudah login.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Rate-limit 8/min/IP untuk public booking endpoint.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BookingNo scheme RP-YYYY-NNNNN dengan retry-on-collision (5x).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675120" y="2194560"/>
            <a:ext cx="4937760" cy="3474720"/>
          </a:xfrm>
          <a:prstGeom prst="rect">
            <a:avLst/>
          </a:prstGeom>
          <a:solidFill>
            <a:srgbClr val="11100E"/>
          </a:solidFill>
          <a:ln w="12700">
            <a:solidFill>
              <a:srgbClr val="3A363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6858000" y="338328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📸 SCREENSHOT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spc="1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01-public-landing.png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spc="1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Drop file into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spc="1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presentation/screenshots/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75120" y="571500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200" kern="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screens/paket-detail.html — public sales page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RELIGIO PRO · OVERVIEW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/ 20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504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· FITUR · JEMAAH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4EE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Portal /saya — PWA installable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Self-service jemaah: lihat booking, bayar online, upload dokumen, kirim profil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82880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194560"/>
            <a:ext cx="585216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installable di Android Chrome + iOS Safari (Share → Add to Home Screen + onboarding hint).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Bottom-nav 4-tab: Beranda · Paket · Notifikasi · Profil.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Bayar online via Midtrans Snap (VA · QRIS · Card · E-wallet).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paspor / visa / vaccine cert dengan auto-thumbnail (sharp 256px).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Notifikasi inbox dengan unread badge (5rr).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Voucher booking printable A4 (stage 20).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Soft-merge: claim booking lama otomatis konsolidasi profil.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675120" y="2194560"/>
            <a:ext cx="4937760" cy="3474720"/>
          </a:xfrm>
          <a:prstGeom prst="rect">
            <a:avLst/>
          </a:prstGeom>
          <a:solidFill>
            <a:srgbClr val="11100E"/>
          </a:solidFill>
          <a:ln w="12700">
            <a:solidFill>
              <a:srgbClr val="3A363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6858000" y="338328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📸 SCREENSHOT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spc="1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02-jemaah-portal.png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spc="1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Drop file into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spc="1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presentation/screenshots/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75120" y="571500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200" kern="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/saya — jemaah dashboard (PWA-installable)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RELIGIO PRO · OVERVIEW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20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504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· FITUR · AGEN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4EE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Portal /agen — CRM untuk agen reseller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Leads kanban · Marketing kit · Wallet · Analitik · 4 tab terintegrasi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82880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194560"/>
            <a:ext cx="585216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kanban 4-kolom: Cold · Warm · Hot · LUNAS (campuran Lead + Booking).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kit: link auto-generated /p/&lt;slug&gt;?a=&lt;agentSlug&gt; + copy-to-clipboard.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&amp; komisi: pending · earned · paid · cancelled + 20 payout terakhir.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Analitik: funnel SVG 5-stage · sumber lead · sparkline 30-hari · per-paket leaderboard · komisi 6 bulan bar chart.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Komisi rate dengan 4-tier precedence: AgentPaketKomisi → komisiRateOverride → Paket.komisiRate → DEFAULT.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675120" y="2194560"/>
            <a:ext cx="4937760" cy="3474720"/>
          </a:xfrm>
          <a:prstGeom prst="rect">
            <a:avLst/>
          </a:prstGeom>
          <a:solidFill>
            <a:srgbClr val="11100E"/>
          </a:solidFill>
          <a:ln w="12700">
            <a:solidFill>
              <a:srgbClr val="3A363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6858000" y="338328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📸 SCREENSHOT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spc="1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03-agen-crm.png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spc="1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Drop file into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spc="1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presentation/screenshots/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75120" y="571500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200" kern="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/agen — Leads pipeline kanban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RELIGIO PRO · OVERVIEW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/ 20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504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· FITUR · CREW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4EE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Portal /crew — muthawwif workspace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Read-only manifest · attendance offline-friendly · SOS dengan 3-channel fan-out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82880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194560"/>
            <a:ext cx="585216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paket yang di-assign, manifest jemaah tanpa kolom uang (separation of duty).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export untuk offline reference (5ss) — UTF-8 BOM, RFC 4180.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per-day grid dengan IndexedDB queue (5xx) — replay form submit saat online lagi.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 button floating (ruby pulse) di setiap halaman /crew — modal 5 jenis incident.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 fan-out 3 channel: EMAIL (queued) · WA (queued) · Web Push (real-time browser).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ada akses ke money — KASIR &amp; MANAJER_OPS yang handle.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675120" y="2194560"/>
            <a:ext cx="4937760" cy="3474720"/>
          </a:xfrm>
          <a:prstGeom prst="rect">
            <a:avLst/>
          </a:prstGeom>
          <a:solidFill>
            <a:srgbClr val="11100E"/>
          </a:solidFill>
          <a:ln w="12700">
            <a:solidFill>
              <a:srgbClr val="3A363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6858000" y="338328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📸 SCREENSHOT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spc="1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04-crew-portal.png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spc="1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Drop file into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spc="1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presentation/screenshots/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75120" y="571500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200" kern="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/crew — paket list + SOS button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RELIGIO PRO · OVERVIEW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/ 20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504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· FITUR · ADMIN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4EE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Dashboard /admin — HQ control center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tab + 10+ sub-page · semua data agen + jemaah + finance dalam satu pane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82880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194560"/>
            <a:ext cx="585216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Overview: KPI · funnel · top paket · revenue trend per paket · komisi 6-bulan bar chart.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Paket / Manifest / Bunking / Finance.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Sub-page: Users · Jemaah · Bookings (global search) · Audit · Notifikasi · Payment Intents · Incidents · Payouts · Calendar · Checklist.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Per-paket profitability (stage 22): revenue − cost − komisi liability = net margin %.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Print-friendly outputs: manifest (A4 landscape) · voucher per-jemaah · slip payout · pre-departure checklist.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 view bulanan (stage 24) untuk planning + drill per tanggal.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675120" y="2194560"/>
            <a:ext cx="4937760" cy="3474720"/>
          </a:xfrm>
          <a:prstGeom prst="rect">
            <a:avLst/>
          </a:prstGeom>
          <a:solidFill>
            <a:srgbClr val="11100E"/>
          </a:solidFill>
          <a:ln w="12700">
            <a:solidFill>
              <a:srgbClr val="3A363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6858000" y="338328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📸 SCREENSHOT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spc="1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05-admin-overview.png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spc="1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Drop file into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spc="1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presentation/screenshots/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75120" y="571500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200" kern="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 — overview tab dengan KPI + charts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RELIGIO PRO · OVERVIEW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20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504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· MONEY FLOW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4EE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Payment → Komisi → Payout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Append-only Payment ledger + state machine forward-only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82880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194560"/>
            <a:ext cx="1109441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recordPayment() = single source of truth — admin-recorded + gateway webhook lewat fungsi yang sama.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machine forward-only: PENDING → BOOKED → DP_PAID → PARTIAL → LUNAS (CANCELLED/REFUNDED terminal).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Auto-Komisi pada LUNAS transition — idempotent, rate locked-in di Komisi.amount snapshot.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 = negative-amount Payment row, append-only (tidak edit original).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Payout bundles all EARNED komisi for one agent, transactional, payoutNo = PO-YYYY-NNNNN.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Midtrans Snap webhook delegate ke recordPayment — single math path, idempotent on retry.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RELIGIO PRO · OVERVIEW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20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504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· MOBILE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4EE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PWA · offline · push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Installable di HP, attendance queue di IndexedDB, SOS push real-time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82880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194560"/>
            <a:ext cx="585216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shell: manifest.webmanifest · service worker · install prompt + iOS hint.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strategy: static cache-first, HTML network-first, offline.html fallback.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attendance: IndexedDB queue replay on online event + 20s tick (server upsert sudah idempotent).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Push: VAPID + browser subscription — 3rd channel di samping email + WA.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SOS: requireInteraction=true → toast nempel sampai admin klik.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bottom-nav untuk jemaah, responsive @media baseline, tap-target ≥ 44px.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675120" y="2194560"/>
            <a:ext cx="4937760" cy="3474720"/>
          </a:xfrm>
          <a:prstGeom prst="rect">
            <a:avLst/>
          </a:prstGeom>
          <a:solidFill>
            <a:srgbClr val="11100E"/>
          </a:solidFill>
          <a:ln w="12700">
            <a:solidFill>
              <a:srgbClr val="3A363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6858000" y="338328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📸 SCREENSHOT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spc="1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06-mobile-pwa.png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spc="1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Drop file into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spc="1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presentation/screenshots/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75120" y="571500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200" kern="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/saya di mobile dengan bottom-nav + PWA install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RELIGIO PRO · OVERVIEW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20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504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· PRINT OUTPUTS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4EE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Print trifecta — paperwork lengkap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Manifest + Voucher + Slip = full accounting + ops trail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82880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194560"/>
            <a:ext cx="3520440" cy="3840480"/>
          </a:xfrm>
          <a:prstGeom prst="rect">
            <a:avLst/>
          </a:prstGeom>
          <a:solidFill>
            <a:srgbClr val="11100E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33172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MANIFEST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2697480"/>
            <a:ext cx="3154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 landscape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 check-in worksheet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Room-first sort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Paspor + emergency contact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4114800"/>
            <a:ext cx="2971800" cy="1737360"/>
          </a:xfrm>
          <a:prstGeom prst="rect">
            <a:avLst/>
          </a:prstGeom>
          <a:solidFill>
            <a:srgbClr val="11100E"/>
          </a:solidFill>
          <a:ln w="12700">
            <a:solidFill>
              <a:srgbClr val="3A3630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005840" y="4434840"/>
            <a:ext cx="2606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📸 SCREENSHOT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spc="1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07-print-manifest.png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spc="1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Drop file into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spc="1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presentation/screenshots/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34840" y="2194560"/>
            <a:ext cx="3520440" cy="3840480"/>
          </a:xfrm>
          <a:prstGeom prst="rect">
            <a:avLst/>
          </a:prstGeom>
          <a:solidFill>
            <a:srgbClr val="11100E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233172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VOUCHER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17720" y="2697480"/>
            <a:ext cx="3154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 portrait per-jemaah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+ paket + payment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Itinerary condensed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for manasik handout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709160" y="4114800"/>
            <a:ext cx="2971800" cy="1737360"/>
          </a:xfrm>
          <a:prstGeom prst="rect">
            <a:avLst/>
          </a:prstGeom>
          <a:solidFill>
            <a:srgbClr val="11100E"/>
          </a:solidFill>
          <a:ln w="12700">
            <a:solidFill>
              <a:srgbClr val="3A3630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4892040" y="4434840"/>
            <a:ext cx="2606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📸 SCREENSHOT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spc="1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08-print-voucher.png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spc="1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Drop file into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spc="1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presentation/screenshots/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321040" y="2194560"/>
            <a:ext cx="3520440" cy="3840480"/>
          </a:xfrm>
          <a:prstGeom prst="rect">
            <a:avLst/>
          </a:prstGeom>
          <a:solidFill>
            <a:srgbClr val="11100E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0" y="233172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SLIP PAYOUT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03920" y="2697480"/>
            <a:ext cx="3154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 portrait per-payout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 identity + komisi table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signature boxes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Untuk accounting record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595360" y="4114800"/>
            <a:ext cx="2971800" cy="1737360"/>
          </a:xfrm>
          <a:prstGeom prst="rect">
            <a:avLst/>
          </a:prstGeom>
          <a:solidFill>
            <a:srgbClr val="11100E"/>
          </a:solidFill>
          <a:ln w="12700">
            <a:solidFill>
              <a:srgbClr val="3A3630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8778240" y="4434840"/>
            <a:ext cx="2606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📸 SCREENSHOT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spc="1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09-print-slip.png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spc="1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Drop file into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spc="1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presentation/screenshots/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RELIGIO PRO · OVERVIEW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20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504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· ANALYTICS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4EE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 tooling — siapa untung, paket mana yang konversi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Funnel · leaderboard · monthly trend · net margin · checklist · calendar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82880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194560"/>
            <a:ext cx="585216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Per-paket leaderboard dengan revenue + cost + komisi liability + NET MARGIN%.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color tier: ≥20% emerald · ≥5% gold · ≥0% amber · negative ruby — losses tidak di-mask.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Komisi monthly bar chart 6-bulan: earned (amber) vs paid (emerald).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Pre-departure checklist 8-poin per jemaah (paspor 6-bulan rule + 4 verified docs + room + emergency).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 bulanan untuk planning + drill per tanggal.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 lead breakdown + funnel agen + sparkline 30-hari (semua agen / per agen).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675120" y="2194560"/>
            <a:ext cx="4937760" cy="3474720"/>
          </a:xfrm>
          <a:prstGeom prst="rect">
            <a:avLst/>
          </a:prstGeom>
          <a:solidFill>
            <a:srgbClr val="11100E"/>
          </a:solidFill>
          <a:ln w="12700">
            <a:solidFill>
              <a:srgbClr val="3A363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6858000" y="338328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📸 SCREENSHOT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spc="1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10-leaderboard.png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spc="1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Drop file into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spc="1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presentation/screenshots/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75120" y="571500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200" kern="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Leaderboard paket dengan net margin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RELIGIO PRO · OVERVIEW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20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504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· NOTIFIKASI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4EE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Multi-channel queue · retry · opt-out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 · WA · Web Push dengan template engine + retry backoff + audit trail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82880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194560"/>
            <a:ext cx="1109441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 model = durable queue + dispatch log. PENDING → SENT / FAILED / SKIPPED.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Senders: console (default) · Fonnte WA · SMTP (nodemailer) · web-push.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 JSON-based dengan {{var}} placeholders — easy localise per type × channel.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exponential backoff (5nn): 1m · 5m · 30m · 2h · 12h sebelum terminal.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Per-channel opt-out di JemaahProfile.notifEmail/notifWa + per-type di JemaahNotifPref.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In-process worker (30s) + cron HTTP trigger — NOTIF_WORKER_DISABLED=true di production.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Jemaah inbox /saya/notifications dengan unread badge (5rr) auto-clear setelah view.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RELIGIO PRO · OVERVIEW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20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504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· PRODUCTION READINESS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4EE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Sudah siap untuk go-live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Security · observability · backup · retention · launch readiness drill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82880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194560"/>
            <a:ext cx="1109441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Boot-time env validation: production fail-fast kalau JWT_SECRET / COOKIE_SECURE / dll. tidak set.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 protection double-submit cookie + Redis-backed rate-limit (multi-instance safe).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 permanen (append-only) untuk setiap state change. Read-only viewer untuk admin.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retention job (prune): bound Notification/JobRun/failed-intent growth. AuditLog + Payment NEVER pruned.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/api/health dengan per-job freshness — eksternal uptime monitor cukup alert pada single field.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 mysqldump --single-transaction + 14-day rotation. Production deploy guide lengkap di deploy/.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Pre-launch smoke runner (scripts/smoke-launch.js) — health + CSRF mint + sensitive-path block + bogus-creds.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RELIGIO PRO · OVERVIEW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20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504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· QUALITY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4EE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suite ~370 tests · node:test built-in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Zero-dependency test runner · serialized · DB fixture-based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82880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194560"/>
            <a:ext cx="2606040" cy="1645920"/>
          </a:xfrm>
          <a:prstGeom prst="rect">
            <a:avLst/>
          </a:prstGeom>
          <a:solidFill>
            <a:srgbClr val="11100E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33172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 tests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697480"/>
            <a:ext cx="2240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362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3337560" y="2194560"/>
            <a:ext cx="2606040" cy="1645920"/>
          </a:xfrm>
          <a:prstGeom prst="rect">
            <a:avLst/>
          </a:prstGeom>
          <a:solidFill>
            <a:srgbClr val="11100E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20440" y="233172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 suites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520440" y="2697480"/>
            <a:ext cx="2240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127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6126480" y="2194560"/>
            <a:ext cx="2606040" cy="1645920"/>
          </a:xfrm>
          <a:prstGeom prst="rect">
            <a:avLst/>
          </a:prstGeom>
          <a:solidFill>
            <a:srgbClr val="11100E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233172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Smoke scripts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309360" y="2697480"/>
            <a:ext cx="2240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20+</a:t>
            </a:r>
            <a:endParaRPr lang="en-US" sz="3600" dirty="0"/>
          </a:p>
        </p:txBody>
      </p:sp>
      <p:sp>
        <p:nvSpPr>
          <p:cNvPr id="15" name="Shape 13"/>
          <p:cNvSpPr/>
          <p:nvPr/>
        </p:nvSpPr>
        <p:spPr>
          <a:xfrm>
            <a:off x="8915400" y="2194560"/>
            <a:ext cx="2606040" cy="1645920"/>
          </a:xfrm>
          <a:prstGeom prst="rect">
            <a:avLst/>
          </a:prstGeom>
          <a:solidFill>
            <a:srgbClr val="11100E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98280" y="233172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Coverage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098280" y="2697480"/>
            <a:ext cx="2240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service + route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548640" y="4114800"/>
            <a:ext cx="11094415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node:test built-in (Node ≥ 18) — zero install, --test-concurrency=1 untuk DB isolation.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Tag-prefixed fixtures (makeTag) — tests share dev DB tapi isolated lewat tag prefix.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Smoke scripts berdampingan: pre-launch · payment gateway · offline attendance · web push.</a:t>
            </a:r>
            <a:endParaRPr lang="en-US" sz="1600" dirty="0"/>
          </a:p>
          <a:p>
            <a:pPr>
              <a:lnSpc>
                <a:spcPts val="2600"/>
              </a:lnSpc>
              <a:spcAft>
                <a:spcPts val="600"/>
              </a:spcAft>
            </a:pPr>
            <a:r>
              <a:rPr lang="en-US" sz="16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suite 362/362 pass — green sebelum setiap commit.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RELIGIO PRO · OVERVIEW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20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504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· TIMELINE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4EE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 stages dijalankan secara terstruktur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Build-out staged — setiap stage didokumentasi di CLAUDE.md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82880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194560"/>
            <a:ext cx="54864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2000"/>
              </a:lnSpc>
            </a:pPr>
            <a:r>
              <a:rPr lang="en-US" sz="110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01-02  Skeleton + Prisma + MySQL seed</a:t>
            </a:r>
            <a:endParaRPr lang="en-US" sz="1100" dirty="0"/>
          </a:p>
          <a:p>
            <a:pPr>
              <a:lnSpc>
                <a:spcPts val="2000"/>
              </a:lnSpc>
            </a:pPr>
            <a:r>
              <a:rPr lang="en-US" sz="110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   Auth + RBAC (8 role)</a:t>
            </a:r>
            <a:endParaRPr lang="en-US" sz="1100" dirty="0"/>
          </a:p>
          <a:p>
            <a:pPr>
              <a:lnSpc>
                <a:spcPts val="2000"/>
              </a:lnSpc>
            </a:pPr>
            <a:r>
              <a:rPr lang="en-US" sz="110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  Public landing + booking</a:t>
            </a:r>
            <a:endParaRPr lang="en-US" sz="1100" dirty="0"/>
          </a:p>
          <a:p>
            <a:pPr>
              <a:lnSpc>
                <a:spcPts val="2000"/>
              </a:lnSpc>
            </a:pPr>
            <a:r>
              <a:rPr lang="en-US" sz="110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   Agen portal CRM</a:t>
            </a:r>
            <a:endParaRPr lang="en-US" sz="1100" dirty="0"/>
          </a:p>
          <a:p>
            <a:pPr>
              <a:lnSpc>
                <a:spcPts val="2000"/>
              </a:lnSpc>
            </a:pPr>
            <a:r>
              <a:rPr lang="en-US" sz="110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   Admin dashboard</a:t>
            </a:r>
            <a:endParaRPr lang="en-US" sz="1100" dirty="0"/>
          </a:p>
          <a:p>
            <a:pPr>
              <a:lnSpc>
                <a:spcPts val="2000"/>
              </a:lnSpc>
            </a:pPr>
            <a:r>
              <a:rPr lang="en-US" sz="110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   Money flow + komisi</a:t>
            </a:r>
            <a:endParaRPr lang="en-US" sz="1100" dirty="0"/>
          </a:p>
          <a:p>
            <a:pPr>
              <a:lnSpc>
                <a:spcPts val="2000"/>
              </a:lnSpc>
            </a:pPr>
            <a:r>
              <a:rPr lang="en-US" sz="110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    Ops jobs (cron)</a:t>
            </a:r>
            <a:endParaRPr lang="en-US" sz="1100" dirty="0"/>
          </a:p>
          <a:p>
            <a:pPr>
              <a:lnSpc>
                <a:spcPts val="2000"/>
              </a:lnSpc>
            </a:pPr>
            <a:r>
              <a:rPr lang="en-US" sz="110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    Jemaah portal</a:t>
            </a:r>
            <a:endParaRPr lang="en-US" sz="1100" dirty="0"/>
          </a:p>
          <a:p>
            <a:pPr>
              <a:lnSpc>
                <a:spcPts val="2000"/>
              </a:lnSpc>
            </a:pPr>
            <a:r>
              <a:rPr lang="en-US" sz="110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    Notifikasi (queue + retry)</a:t>
            </a:r>
            <a:endParaRPr lang="en-US" sz="1100" dirty="0"/>
          </a:p>
          <a:p>
            <a:pPr>
              <a:lnSpc>
                <a:spcPts val="2000"/>
              </a:lnSpc>
            </a:pPr>
            <a:r>
              <a:rPr lang="en-US" sz="110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    Payment gateway (Midtrans)</a:t>
            </a:r>
            <a:endParaRPr lang="en-US" sz="1100" dirty="0"/>
          </a:p>
          <a:p>
            <a:pPr>
              <a:lnSpc>
                <a:spcPts val="2000"/>
              </a:lnSpc>
            </a:pPr>
            <a:r>
              <a:rPr lang="en-US" sz="110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    Crew portal</a:t>
            </a:r>
            <a:endParaRPr lang="en-US" sz="1100" dirty="0"/>
          </a:p>
          <a:p>
            <a:pPr>
              <a:lnSpc>
                <a:spcPts val="2000"/>
              </a:lnSpc>
            </a:pPr>
            <a:r>
              <a:rPr lang="en-US" sz="110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    Mobile experience (PWA + offline)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09360" y="2194560"/>
            <a:ext cx="54864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2000"/>
              </a:lnSpc>
            </a:pPr>
            <a:r>
              <a:rPr lang="en-US" sz="110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    Per-paket × per-agen komisi matrix</a:t>
            </a:r>
            <a:endParaRPr lang="en-US" sz="1100" dirty="0"/>
          </a:p>
          <a:p>
            <a:pPr>
              <a:lnSpc>
                <a:spcPts val="2000"/>
              </a:lnSpc>
            </a:pPr>
            <a:r>
              <a:rPr lang="en-US" sz="110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    Document thumbnails</a:t>
            </a:r>
            <a:endParaRPr lang="en-US" sz="1100" dirty="0"/>
          </a:p>
          <a:p>
            <a:pPr>
              <a:lnSpc>
                <a:spcPts val="2000"/>
              </a:lnSpc>
            </a:pPr>
            <a:r>
              <a:rPr lang="en-US" sz="110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    Analytics extension</a:t>
            </a:r>
            <a:endParaRPr lang="en-US" sz="1100" dirty="0"/>
          </a:p>
          <a:p>
            <a:pPr>
              <a:lnSpc>
                <a:spcPts val="2000"/>
              </a:lnSpc>
            </a:pPr>
            <a:r>
              <a:rPr lang="en-US" sz="110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    Web Push SOS</a:t>
            </a:r>
            <a:endParaRPr lang="en-US" sz="1100" dirty="0"/>
          </a:p>
          <a:p>
            <a:pPr>
              <a:lnSpc>
                <a:spcPts val="2000"/>
              </a:lnSpc>
            </a:pPr>
            <a:r>
              <a:rPr lang="en-US" sz="110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    Paket clone</a:t>
            </a:r>
            <a:endParaRPr lang="en-US" sz="1100" dirty="0"/>
          </a:p>
          <a:p>
            <a:pPr>
              <a:lnSpc>
                <a:spcPts val="2000"/>
              </a:lnSpc>
            </a:pPr>
            <a:r>
              <a:rPr lang="en-US" sz="110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    Print manifest</a:t>
            </a:r>
            <a:endParaRPr lang="en-US" sz="1100" dirty="0"/>
          </a:p>
          <a:p>
            <a:pPr>
              <a:lnSpc>
                <a:spcPts val="2000"/>
              </a:lnSpc>
            </a:pPr>
            <a:r>
              <a:rPr lang="en-US" sz="110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    Per-jemaah voucher</a:t>
            </a:r>
            <a:endParaRPr lang="en-US" sz="1100" dirty="0"/>
          </a:p>
          <a:p>
            <a:pPr>
              <a:lnSpc>
                <a:spcPts val="2000"/>
              </a:lnSpc>
            </a:pPr>
            <a:r>
              <a:rPr lang="en-US" sz="110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    Payout slip</a:t>
            </a:r>
            <a:endParaRPr lang="en-US" sz="1100" dirty="0"/>
          </a:p>
          <a:p>
            <a:pPr>
              <a:lnSpc>
                <a:spcPts val="2000"/>
              </a:lnSpc>
            </a:pPr>
            <a:r>
              <a:rPr lang="en-US" sz="110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    Per-paket profitability</a:t>
            </a:r>
            <a:endParaRPr lang="en-US" sz="1100" dirty="0"/>
          </a:p>
          <a:p>
            <a:pPr>
              <a:lnSpc>
                <a:spcPts val="2000"/>
              </a:lnSpc>
            </a:pPr>
            <a:r>
              <a:rPr lang="en-US" sz="110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    Pre-departure checklist</a:t>
            </a:r>
            <a:endParaRPr lang="en-US" sz="1100" dirty="0"/>
          </a:p>
          <a:p>
            <a:pPr>
              <a:lnSpc>
                <a:spcPts val="2000"/>
              </a:lnSpc>
            </a:pPr>
            <a:r>
              <a:rPr lang="en-US" sz="110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    Departure calendar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RELIGIO PRO · OVERVIEW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20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504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· KELEBIHAN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4EE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Mengapa Religio Pro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alasan kuat dibanding solusi spreadsheet, WhatsApp group, atau platform generic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82880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194560"/>
            <a:ext cx="5486400" cy="914400"/>
          </a:xfrm>
          <a:prstGeom prst="rect">
            <a:avLst/>
          </a:prstGeom>
          <a:solidFill>
            <a:srgbClr val="11100E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28600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TERINTEGRASI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256032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→ Booking → Payment → Komisi → Payout otomatis. Tidak ada double-entry, tidak ada lupa.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200400"/>
            <a:ext cx="5486400" cy="914400"/>
          </a:xfrm>
          <a:prstGeom prst="rect">
            <a:avLst/>
          </a:prstGeom>
          <a:solidFill>
            <a:srgbClr val="11100E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29184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BHS. INDONESIA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356616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Seluruh UI dalam Bahasa Indonesia. Owner, kasir, agen, jemaah semua nyaman tanpa training translasi.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4206240"/>
            <a:ext cx="5486400" cy="914400"/>
          </a:xfrm>
          <a:prstGeom prst="rect">
            <a:avLst/>
          </a:prstGeom>
          <a:solidFill>
            <a:srgbClr val="11100E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29768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SEPARATION OF DUTIES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457200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8-role RBAC mencegah kasir menulis-off refund, mencegah agen lihat data agen lain.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5212080"/>
            <a:ext cx="5486400" cy="914400"/>
          </a:xfrm>
          <a:prstGeom prst="rect">
            <a:avLst/>
          </a:prstGeom>
          <a:solidFill>
            <a:srgbClr val="11100E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53035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OFFLINE-FRIENDLY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557784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+ IndexedDB. Attendance + SOS jalan di bus tanpa sinyal — sync saat online.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309360" y="2194560"/>
            <a:ext cx="5486400" cy="914400"/>
          </a:xfrm>
          <a:prstGeom prst="rect">
            <a:avLst/>
          </a:prstGeom>
          <a:solidFill>
            <a:srgbClr val="11100E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92240" y="228600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 TRAIL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92240" y="256032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state change ditulis ke AuditLog (append-only). Investigasi cepat, compliance ready.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309360" y="3200400"/>
            <a:ext cx="5486400" cy="914400"/>
          </a:xfrm>
          <a:prstGeom prst="rect">
            <a:avLst/>
          </a:prstGeom>
          <a:solidFill>
            <a:srgbClr val="11100E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329184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PRINT-READY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92240" y="356616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 · voucher · slip payout siap cetak A4 — tidak perlu Excel/Word manual.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09360" y="4206240"/>
            <a:ext cx="5486400" cy="914400"/>
          </a:xfrm>
          <a:prstGeom prst="rect">
            <a:avLst/>
          </a:prstGeom>
          <a:solidFill>
            <a:srgbClr val="11100E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92240" y="429768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OWNER BI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92240" y="457200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Profitability per paket, komisi trend, leaderboard cross-agen — owner tahu paket mana yang untung.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5212080"/>
            <a:ext cx="5486400" cy="914400"/>
          </a:xfrm>
          <a:prstGeom prst="rect">
            <a:avLst/>
          </a:prstGeom>
          <a:solidFill>
            <a:srgbClr val="11100E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92240" y="53035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PRODUCTION-READY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92240" y="557784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4E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 · CSRF · backup · retention · health check · ~370 tests. Bukan prototype.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RELIGIO PRO · OVERVIEW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E8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20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504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0"/>
            <a:ext cx="1645920" cy="36576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103120"/>
            <a:ext cx="1109441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0" dirty="0">
                <a:solidFill>
                  <a:srgbClr val="F4EE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Terima </a:t>
            </a:r>
            <a:pPr indent="0" marL="0">
              <a:buNone/>
            </a:pPr>
            <a:r>
              <a:rPr lang="en-US" sz="7000" i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kasih</a:t>
            </a:r>
            <a:endParaRPr lang="en-US" sz="7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DCC3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Ready to demo, ready to deploy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11094415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2200"/>
              </a:lnSpc>
            </a:pPr>
            <a:r>
              <a:rPr lang="en-US" sz="1300" spc="100" kern="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landing  ·  /p/ramadhan-aqsa-2026</a:t>
            </a:r>
            <a:endParaRPr lang="en-US" sz="1300" dirty="0"/>
          </a:p>
          <a:p>
            <a:pPr>
              <a:lnSpc>
                <a:spcPts val="2200"/>
              </a:lnSpc>
            </a:pPr>
            <a:r>
              <a:rPr lang="en-US" sz="1300" spc="100" kern="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Jemaah portal   ·  /saya</a:t>
            </a:r>
            <a:endParaRPr lang="en-US" sz="1300" dirty="0"/>
          </a:p>
          <a:p>
            <a:pPr>
              <a:lnSpc>
                <a:spcPts val="2200"/>
              </a:lnSpc>
            </a:pPr>
            <a:r>
              <a:rPr lang="en-US" sz="1300" spc="100" kern="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 CRM        ·  /agen</a:t>
            </a:r>
            <a:endParaRPr lang="en-US" sz="1300" dirty="0"/>
          </a:p>
          <a:p>
            <a:pPr>
              <a:lnSpc>
                <a:spcPts val="2200"/>
              </a:lnSpc>
            </a:pPr>
            <a:r>
              <a:rPr lang="en-US" sz="1300" spc="100" kern="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Crew workspace  ·  /crew</a:t>
            </a:r>
            <a:endParaRPr lang="en-US" sz="1300" dirty="0"/>
          </a:p>
          <a:p>
            <a:pPr>
              <a:lnSpc>
                <a:spcPts val="2200"/>
              </a:lnSpc>
            </a:pPr>
            <a:r>
              <a:rPr lang="en-US" sz="1300" spc="100" kern="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 HQ        ·  /admin</a:t>
            </a:r>
            <a:endParaRPr lang="en-US" sz="1300" dirty="0"/>
          </a:p>
          <a:p>
            <a:pPr>
              <a:lnSpc>
                <a:spcPts val="2200"/>
              </a:lnSpc>
            </a:pPr>
            <a:r>
              <a:rPr lang="en-US" sz="1300" spc="100" kern="0" dirty="0">
                <a:solidFill>
                  <a:srgbClr val="F4EE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 health      ·  /api/health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Religio Pro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Religio Pro — Travel Umroh &amp; Haji Management</dc:title>
  <dc:subject>System overview deck</dc:subject>
  <dc:creator>Religio Pro</dc:creator>
  <cp:lastModifiedBy>Religio Pro</cp:lastModifiedBy>
  <cp:revision>1</cp:revision>
  <dcterms:created xsi:type="dcterms:W3CDTF">2026-06-06T07:30:41Z</dcterms:created>
  <dcterms:modified xsi:type="dcterms:W3CDTF">2026-06-06T07:30:41Z</dcterms:modified>
</cp:coreProperties>
</file>